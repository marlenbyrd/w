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73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3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49440" y="1234440"/>
            <a:ext cx="4206240" cy="4389120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52360" y="1828800"/>
            <a:ext cx="320040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69DC9A"/>
                </a:solidFill>
                <a:latin typeface="Consolas"/>
              </a:rPr>
              <a:t>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2788920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4F7FC"/>
                </a:solidFill>
                <a:latin typeface="Consolas"/>
              </a:rPr>
              <a:t>$ automate --workflow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3657600"/>
            <a:ext cx="32918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EBBCD"/>
                </a:solidFill>
                <a:latin typeface="Consolas"/>
              </a:rPr>
              <a:t>Linux • Shell • 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486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9DC9A"/>
                </a:solidFill>
                <a:latin typeface="Aptos"/>
              </a:rPr>
              <a:t>ТЕХНОЛОГИЯ РАЗРАБОТКИ ПО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8521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4F7FC"/>
                </a:solidFill>
                <a:latin typeface="Aptos"/>
              </a:rPr>
              <a:t>Bash в Linux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53949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AEBBCD"/>
                </a:solidFill>
                <a:latin typeface="Aptos"/>
              </a:rPr>
              <a:t>Командная оболочка и автоматизация задач разработчика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3657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Доклад-презентация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566928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 err="1">
                <a:solidFill>
                  <a:srgbClr val="AEBBCD"/>
                </a:solidFill>
                <a:latin typeface="Aptos"/>
              </a:rPr>
              <a:t>Выполнил</a:t>
            </a:r>
            <a:r>
              <a:rPr sz="1200" b="0" dirty="0">
                <a:solidFill>
                  <a:srgbClr val="AEBBCD"/>
                </a:solidFill>
                <a:latin typeface="Aptos"/>
              </a:rPr>
              <a:t>(</a:t>
            </a:r>
            <a:r>
              <a:rPr sz="1200" b="0" dirty="0" err="1">
                <a:solidFill>
                  <a:srgbClr val="AEBBCD"/>
                </a:solidFill>
                <a:latin typeface="Aptos"/>
              </a:rPr>
              <a:t>а</a:t>
            </a:r>
            <a:r>
              <a:rPr sz="1200" b="0" dirty="0">
                <a:solidFill>
                  <a:srgbClr val="AEBBCD"/>
                </a:solidFill>
                <a:latin typeface="Aptos"/>
              </a:rPr>
              <a:t>): _</a:t>
            </a:r>
            <a:r>
              <a:rPr lang="ru-RU" sz="1200" b="0" u="sng" dirty="0">
                <a:solidFill>
                  <a:srgbClr val="AEBBCD"/>
                </a:solidFill>
                <a:latin typeface="Aptos"/>
              </a:rPr>
              <a:t>Бердышев Илья Маратович</a:t>
            </a:r>
            <a:r>
              <a:rPr sz="1200" b="0" dirty="0">
                <a:solidFill>
                  <a:srgbClr val="AEBBCD"/>
                </a:solidFill>
                <a:latin typeface="Aptos"/>
              </a:rPr>
              <a:t>_   </a:t>
            </a:r>
            <a:r>
              <a:rPr sz="1200" b="0" dirty="0" err="1">
                <a:solidFill>
                  <a:srgbClr val="AEBBCD"/>
                </a:solidFill>
                <a:latin typeface="Aptos"/>
              </a:rPr>
              <a:t>Группа</a:t>
            </a:r>
            <a:r>
              <a:rPr sz="1200" b="0" dirty="0">
                <a:solidFill>
                  <a:srgbClr val="AEBBCD"/>
                </a:solidFill>
                <a:latin typeface="Aptos"/>
              </a:rPr>
              <a:t>: _</a:t>
            </a:r>
            <a:r>
              <a:rPr lang="en-US" sz="1200" b="0" u="sng" dirty="0">
                <a:solidFill>
                  <a:srgbClr val="AEBBCD"/>
                </a:solidFill>
                <a:latin typeface="Aptos"/>
              </a:rPr>
              <a:t>28</a:t>
            </a:r>
            <a:r>
              <a:rPr lang="ru-RU" sz="1200" b="0" u="sng" dirty="0">
                <a:solidFill>
                  <a:srgbClr val="AEBBCD"/>
                </a:solidFill>
                <a:latin typeface="Aptos"/>
              </a:rPr>
              <a:t>ИПО8381</a:t>
            </a:r>
            <a:r>
              <a:rPr sz="1200" b="0" dirty="0">
                <a:solidFill>
                  <a:srgbClr val="AEBBCD"/>
                </a:solidFill>
                <a:latin typeface="Aptos"/>
              </a:rPr>
              <a:t>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Что такое Bash?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22960" cy="50292"/>
          </a:xfrm>
          <a:prstGeom prst="rect">
            <a:avLst/>
          </a:prstGeom>
          <a:solidFill>
            <a:srgbClr val="69D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AEBBCD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4F7FC"/>
                </a:solidFill>
                <a:latin typeface="Aptos"/>
              </a:rPr>
              <a:t>Bash (Bourne Again Shell) — командная оболочка, которая принимает команды пользователя и передаёт их на выполнение системе.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3429000" cy="1828800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3182112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9DC9A"/>
                </a:solidFill>
                <a:latin typeface="Aptos"/>
              </a:rPr>
              <a:t>КОМАНДЫ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29260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4F7FC"/>
                </a:solidFill>
                <a:latin typeface="Aptos"/>
              </a:rPr>
              <a:t>Запуск программ и системных утилит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880360"/>
            <a:ext cx="3429000" cy="1828800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3182112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9DC9A"/>
                </a:solidFill>
                <a:latin typeface="Aptos"/>
              </a:rPr>
              <a:t>УПРАВЛЕНИЕ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703320"/>
            <a:ext cx="29260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4F7FC"/>
                </a:solidFill>
                <a:latin typeface="Aptos"/>
              </a:rPr>
              <a:t>Работа с файлами, каталогами и процессами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880360"/>
            <a:ext cx="3429000" cy="1828800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3182112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9DC9A"/>
                </a:solidFill>
                <a:latin typeface="Aptos"/>
              </a:rPr>
              <a:t>АВТОМАТИЗАЦИЯ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703320"/>
            <a:ext cx="29260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4F7FC"/>
                </a:solidFill>
                <a:latin typeface="Aptos"/>
              </a:rPr>
              <a:t>Сценарии для повторяющихся задач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5156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CD66"/>
                </a:solidFill>
                <a:latin typeface="Aptos"/>
              </a:rPr>
              <a:t>Bash — это и интерфейс командной строки, и язык сценариев.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Основные команды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22960" cy="50292"/>
          </a:xfrm>
          <a:prstGeom prst="rect">
            <a:avLst/>
          </a:prstGeom>
          <a:solidFill>
            <a:srgbClr val="69D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AEBBCD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749808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682495"/>
            <a:ext cx="1417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9DC9A"/>
                </a:solidFill>
                <a:latin typeface="Consolas"/>
              </a:rPr>
              <a:t>pwd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82495"/>
            <a:ext cx="3108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C"/>
                </a:solidFill>
                <a:latin typeface="Aptos"/>
              </a:rPr>
              <a:t>показать текущий каталог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1508760"/>
            <a:ext cx="5074920" cy="749808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6247" y="1682495"/>
            <a:ext cx="1417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9DC9A"/>
                </a:solidFill>
                <a:latin typeface="Consolas"/>
              </a:rPr>
              <a:t>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1682495"/>
            <a:ext cx="3108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C"/>
                </a:solidFill>
                <a:latin typeface="Aptos"/>
              </a:rPr>
              <a:t>список файлов и папок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32888"/>
            <a:ext cx="5074920" cy="749808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2706624"/>
            <a:ext cx="1417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9DC9A"/>
                </a:solidFill>
                <a:latin typeface="Consolas"/>
              </a:rPr>
              <a:t>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3108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C"/>
                </a:solidFill>
                <a:latin typeface="Aptos"/>
              </a:rPr>
              <a:t>перейти в каталог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2532888"/>
            <a:ext cx="5074920" cy="749808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7" y="2706624"/>
            <a:ext cx="1417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9DC9A"/>
                </a:solidFill>
                <a:latin typeface="Consolas"/>
              </a:rPr>
              <a:t>mkdir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706624"/>
            <a:ext cx="3108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C"/>
                </a:solidFill>
                <a:latin typeface="Aptos"/>
              </a:rPr>
              <a:t>создать каталог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57016"/>
            <a:ext cx="5074920" cy="749808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3730752"/>
            <a:ext cx="1417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9DC9A"/>
                </a:solidFill>
                <a:latin typeface="Consolas"/>
              </a:rPr>
              <a:t>cp / mv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730752"/>
            <a:ext cx="3108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C"/>
                </a:solidFill>
                <a:latin typeface="Aptos"/>
              </a:rPr>
              <a:t>копировать / переместить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3557016"/>
            <a:ext cx="5074920" cy="749808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247" y="3730752"/>
            <a:ext cx="1417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9DC9A"/>
                </a:solidFill>
                <a:latin typeface="Consolas"/>
              </a:rPr>
              <a:t>grep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3730752"/>
            <a:ext cx="3108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C"/>
                </a:solidFill>
                <a:latin typeface="Aptos"/>
              </a:rPr>
              <a:t>найти текст по шаблону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581144"/>
            <a:ext cx="5074920" cy="749808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4754880"/>
            <a:ext cx="1417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9DC9A"/>
                </a:solidFill>
                <a:latin typeface="Consolas"/>
              </a:rPr>
              <a:t>cat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754880"/>
            <a:ext cx="3108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C"/>
                </a:solidFill>
                <a:latin typeface="Aptos"/>
              </a:rPr>
              <a:t>вывести содержимое файла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4581144"/>
            <a:ext cx="5074920" cy="749808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56247" y="4754880"/>
            <a:ext cx="1417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9DC9A"/>
                </a:solidFill>
                <a:latin typeface="Consolas"/>
              </a:rPr>
              <a:t>chmod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4754880"/>
            <a:ext cx="3108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C"/>
                </a:solidFill>
                <a:latin typeface="Aptos"/>
              </a:rPr>
              <a:t>изменить права доступа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CD66"/>
                </a:solidFill>
                <a:latin typeface="Consolas"/>
              </a:rPr>
              <a:t>Пример: mkdir my_project &amp;&amp; cd my_project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Bash как язык программирования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22960" cy="50292"/>
          </a:xfrm>
          <a:prstGeom prst="rect">
            <a:avLst/>
          </a:prstGeom>
          <a:solidFill>
            <a:srgbClr val="69D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AEBBCD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4241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4F7FC"/>
                </a:solidFill>
                <a:latin typeface="Aptos"/>
              </a:rPr>
              <a:t>В сценариях Bash доступны привычные конструкции программирования: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4937760" cy="338328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Переменные — хранение значений</a:t>
            </a:r>
          </a:p>
          <a:p>
            <a:pPr>
              <a:spcAft>
                <a:spcPts val="12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Условия if — выбор действия в зависимости от ситуации</a:t>
            </a:r>
          </a:p>
          <a:p>
            <a:pPr>
              <a:spcAft>
                <a:spcPts val="12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Циклы for и while — повторение команд</a:t>
            </a:r>
          </a:p>
          <a:p>
            <a:pPr>
              <a:spcAft>
                <a:spcPts val="12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Функции — повторное использование фрагментов сценария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257800" cy="3474720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993392"/>
            <a:ext cx="4800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9DC9A"/>
                </a:solidFill>
                <a:latin typeface="Aptos"/>
              </a:rPr>
              <a:t>Переменная и условие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395728"/>
            <a:ext cx="4800600" cy="2743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>
                <a:solidFill>
                  <a:srgbClr val="F4F7FC"/>
                </a:solidFill>
                <a:latin typeface="Consolas"/>
              </a:defRPr>
            </a:pPr>
            <a:r>
              <a:t>name="Developer"</a:t>
            </a:r>
            <a:br/>
            <a:r>
              <a:t>echo "Hello, $name!"</a:t>
            </a:r>
            <a:br/>
            <a:br/>
            <a:r>
              <a:t>if [ -f "main.py" ]; then</a:t>
            </a:r>
            <a:br/>
            <a:r>
              <a:t>  echo "Файл существует"</a:t>
            </a:r>
            <a:br/>
            <a:r>
              <a:t>fi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Что такое Bash-скрипт?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22960" cy="50292"/>
          </a:xfrm>
          <a:prstGeom prst="rect">
            <a:avLst/>
          </a:prstGeom>
          <a:solidFill>
            <a:srgbClr val="69D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AEBBCD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F4F7FC"/>
                </a:solidFill>
                <a:latin typeface="Aptos"/>
              </a:rPr>
              <a:t>Bash-скрипт — текстовый файл с командами, которые оболочка выполняет последовательно.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5669280" cy="2971800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87752"/>
            <a:ext cx="5212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9DC9A"/>
                </a:solidFill>
                <a:latin typeface="Aptos"/>
              </a:rPr>
              <a:t>script.sh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90088"/>
            <a:ext cx="5212080" cy="2240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>
                <a:solidFill>
                  <a:srgbClr val="F4F7FC"/>
                </a:solidFill>
                <a:latin typeface="Consolas"/>
              </a:defRPr>
            </a:pPr>
            <a:r>
              <a:t>#!/usr/bin/env bash</a:t>
            </a:r>
            <a:br/>
            <a:br/>
            <a:r>
              <a:t>mkdir -p logs</a:t>
            </a:r>
            <a:br/>
            <a:r>
              <a:t>echo "Сценарий выполнен" &gt; logs/result.txt</a:t>
            </a:r>
            <a:br/>
            <a:r>
              <a:t>echo "Готово"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1460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9DC9A"/>
                </a:solidFill>
                <a:latin typeface="Aptos"/>
              </a:rPr>
              <a:t>Как запустить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063240"/>
            <a:ext cx="4114800" cy="2194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F4F7FC"/>
                </a:solidFill>
                <a:latin typeface="Aptos"/>
              </a:rPr>
              <a:t>1. Сохранить команды в script.sh
2. Разрешить запуск:
chmod +x script.sh
3. Запустить:
./script.sh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CD66"/>
                </a:solidFill>
                <a:latin typeface="Aptos"/>
              </a:rPr>
              <a:t>Строка #!/usr/bin/env bash указывает, какой интерпретатор использовать.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Где Bash используется при разработке ПО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22960" cy="50292"/>
          </a:xfrm>
          <a:prstGeom prst="rect">
            <a:avLst/>
          </a:prstGeom>
          <a:solidFill>
            <a:srgbClr val="69D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AEBBCD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5074920" cy="1508760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01368"/>
            <a:ext cx="5029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69DC9A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801368"/>
            <a:ext cx="38404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Подготовка проекта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313432"/>
            <a:ext cx="37947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EBBCD"/>
                </a:solidFill>
                <a:latin typeface="Aptos"/>
              </a:rPr>
              <a:t>Создание каталогов, файлов и структуры приложения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600200"/>
            <a:ext cx="5074920" cy="1508760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79" y="1801368"/>
            <a:ext cx="5029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69DC9A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1801368"/>
            <a:ext cx="38404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Сборка и тестирование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313432"/>
            <a:ext cx="37947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EBBCD"/>
                </a:solidFill>
                <a:latin typeface="Aptos"/>
              </a:rPr>
              <a:t>Запуск сборщиков, тестов и проверок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11880"/>
            <a:ext cx="5074920" cy="1508760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813048"/>
            <a:ext cx="5029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69DC9A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3813048"/>
            <a:ext cx="38404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Git и контроль версий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4325112"/>
            <a:ext cx="37947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EBBCD"/>
                </a:solidFill>
                <a:latin typeface="Aptos"/>
              </a:rPr>
              <a:t>Выполнение команд Git из терминала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3611880"/>
            <a:ext cx="5074920" cy="1508760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79" y="3813048"/>
            <a:ext cx="5029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69DC9A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3813048"/>
            <a:ext cx="38404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DevOps и 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4325112"/>
            <a:ext cx="37947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EBBCD"/>
                </a:solidFill>
                <a:latin typeface="Aptos"/>
              </a:rPr>
              <a:t>Автоматизация доставки и развёртывания приложений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698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CD66"/>
                </a:solidFill>
                <a:latin typeface="Aptos"/>
              </a:rPr>
              <a:t>Пример команды Git: git status — показывает состояние рабочего каталога.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Преимущества Bash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22960" cy="50292"/>
          </a:xfrm>
          <a:prstGeom prst="rect">
            <a:avLst/>
          </a:prstGeom>
          <a:solidFill>
            <a:srgbClr val="69D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AEBBCD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6492240" cy="41148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Доступен во многих Linux-системах и хорошо интегрирован с системными утилитами.</a:t>
            </a:r>
          </a:p>
          <a:p>
            <a:pPr>
              <a:spcAft>
                <a:spcPts val="12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Сокращает количество повторяющихся ручных действий.</a:t>
            </a:r>
          </a:p>
          <a:p>
            <a:pPr>
              <a:spcAft>
                <a:spcPts val="12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Позволяет объединять команды в воспроизводимые сценарии.</a:t>
            </a:r>
          </a:p>
          <a:p>
            <a:pPr>
              <a:spcAft>
                <a:spcPts val="12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Полезен для серверной разработки, администрирования и DevOps.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828800"/>
            <a:ext cx="3291840" cy="3108960"/>
          </a:xfrm>
          <a:prstGeom prst="roundRect">
            <a:avLst/>
          </a:prstGeom>
          <a:solidFill>
            <a:srgbClr val="161F32"/>
          </a:solidFill>
          <a:ln>
            <a:solidFill>
              <a:srgbClr val="2C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83879" y="224028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69DC9A"/>
                </a:solidFill>
                <a:latin typeface="Aptos"/>
              </a:rPr>
              <a:t>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788920"/>
            <a:ext cx="2514600" cy="1554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4F7FC"/>
                </a:solidFill>
                <a:latin typeface="Aptos"/>
              </a:rPr>
              <a:t>Bash не заменяет Python, Java или C#. Он помогает управлять командами и автоматизировать рабочие процессы.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Ограничения и безопасность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22960" cy="50292"/>
          </a:xfrm>
          <a:prstGeom prst="rect">
            <a:avLst/>
          </a:prstGeom>
          <a:solidFill>
            <a:srgbClr val="69D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AEBBCD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F4F7FC"/>
                </a:solidFill>
                <a:latin typeface="Aptos"/>
              </a:rPr>
              <a:t>Bash особенно удобен для коротких сценариев и системной автоматизации, но подходит не для каждой задачи.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9966960" cy="32918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Большие сценарии могут быть сложными для сопровождения.</a:t>
            </a:r>
          </a:p>
          <a:p>
            <a:pPr>
              <a:spcAft>
                <a:spcPts val="12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Для сложных структур данных часто удобнее специализированные языки.</a:t>
            </a:r>
          </a:p>
          <a:p>
            <a:pPr>
              <a:spcAft>
                <a:spcPts val="12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Команды удаления и изменения прав требуют осторожности.</a:t>
            </a:r>
          </a:p>
          <a:p>
            <a:pPr>
              <a:spcAft>
                <a:spcPts val="12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Перед запуском неизвестного скрипта следует проверить его содержимое.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97880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CD66"/>
                </a:solidFill>
                <a:latin typeface="Aptos"/>
              </a:rPr>
              <a:t>Практическое правило: проверяйте команды перед запуском, особенно с sudo и 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Итоги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22960" cy="50292"/>
          </a:xfrm>
          <a:prstGeom prst="rect">
            <a:avLst/>
          </a:prstGeom>
          <a:solidFill>
            <a:srgbClr val="69D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AEBBCD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7FC"/>
                </a:solidFill>
                <a:latin typeface="Aptos"/>
              </a:rPr>
              <a:t>Bash — важный инструмент в экосистеме Linux и современной разработки ПО.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9875520" cy="28346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Позволяет управлять файлами, программами и процессами.</a:t>
            </a:r>
          </a:p>
          <a:p>
            <a:pPr>
              <a:spcAft>
                <a:spcPts val="12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Поддерживает переменные, условия, циклы и функции.</a:t>
            </a:r>
          </a:p>
          <a:p>
            <a:pPr>
              <a:spcAft>
                <a:spcPts val="12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Помогает автоматизировать сборку, тестирование и развёртывание.</a:t>
            </a:r>
          </a:p>
          <a:p>
            <a:pPr>
              <a:spcAft>
                <a:spcPts val="12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Знание Bash повышает эффективность работы разработчика.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1042416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69DC9A"/>
                </a:solidFill>
                <a:latin typeface="Aptos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Источники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22960" cy="50292"/>
          </a:xfrm>
          <a:prstGeom prst="rect">
            <a:avLst/>
          </a:prstGeom>
          <a:solidFill>
            <a:srgbClr val="69D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AEBBCD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029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GNU Bash Reference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9784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7B1FF"/>
                </a:solidFill>
                <a:latin typeface="Aptos"/>
              </a:rPr>
              <a:t>https://www.gnu.org/software/bash/manual/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5029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GNU Project — Bash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0088"/>
            <a:ext cx="9784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7B1FF"/>
                </a:solidFill>
                <a:latin typeface="Aptos"/>
              </a:rPr>
              <a:t>https://www.gnu.org/software/bash/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5029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The Linux Documentation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50208"/>
            <a:ext cx="9784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7B1FF"/>
                </a:solidFill>
                <a:latin typeface="Aptos"/>
              </a:rPr>
              <a:t>https://tldp.org/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5029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Git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10328"/>
            <a:ext cx="9784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7B1FF"/>
                </a:solidFill>
                <a:latin typeface="Aptos"/>
              </a:rPr>
              <a:t>https://git-scm.com/doc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624</Words>
  <Application>Microsoft Macintosh PowerPoint</Application>
  <PresentationFormat>Широкоэкранный</PresentationFormat>
  <Paragraphs>103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Bash в Linux</dc:title>
  <dc:subject>Технология разработки программного обеспечения</dc:subject>
  <dc:creator/>
  <cp:keywords/>
  <dc:description/>
  <cp:lastModifiedBy>Marlen Berdyshev</cp:lastModifiedBy>
  <cp:revision>3</cp:revision>
  <dcterms:created xsi:type="dcterms:W3CDTF">2026-10-19T06:55:35Z</dcterms:created>
  <dcterms:modified xsi:type="dcterms:W3CDTF">2026-10-19T07:00:43Z</dcterms:modified>
  <cp:category/>
  <dc:identifier/>
  <cp:contentStatus/>
  <dc:language>ru-RU</dc:language>
  <cp:version/>
</cp:coreProperties>
</file>